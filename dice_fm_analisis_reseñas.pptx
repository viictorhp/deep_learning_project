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286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046720" y="3291840"/>
            <a:ext cx="1645920" cy="164592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8288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dice.fm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Análisis de Reseñas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Trustpilot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4D8"/>
                </a:solidFill>
              </a:rPr>
              <a:t>Sector: Events &amp; Entertainment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B97AA"/>
                </a:solidFill>
              </a:rPr>
              <a:t>100 </a:t>
            </a:r>
            <a:r>
              <a:rPr lang="en-US" sz="1200" dirty="0" err="1">
                <a:solidFill>
                  <a:srgbClr val="7B97AA"/>
                </a:solidFill>
              </a:rPr>
              <a:t>reseñas</a:t>
            </a:r>
            <a:r>
              <a:rPr lang="en-US" sz="1200" dirty="0">
                <a:solidFill>
                  <a:srgbClr val="7B97AA"/>
                </a:solidFill>
              </a:rPr>
              <a:t>  ·  75 </a:t>
            </a:r>
            <a:r>
              <a:rPr lang="en-US" sz="1200" dirty="0" err="1">
                <a:solidFill>
                  <a:srgbClr val="7B97AA"/>
                </a:solidFill>
              </a:rPr>
              <a:t>empresas</a:t>
            </a:r>
            <a:r>
              <a:rPr lang="en-US" sz="1200" dirty="0">
                <a:solidFill>
                  <a:srgbClr val="7B97AA"/>
                </a:solidFill>
              </a:rPr>
              <a:t> </a:t>
            </a:r>
            <a:r>
              <a:rPr lang="en-US" sz="1200" dirty="0" err="1">
                <a:solidFill>
                  <a:srgbClr val="7B97AA"/>
                </a:solidFill>
              </a:rPr>
              <a:t>competidoras</a:t>
            </a:r>
            <a:r>
              <a:rPr lang="en-US" sz="1200" dirty="0">
                <a:solidFill>
                  <a:srgbClr val="7B97AA"/>
                </a:solidFill>
              </a:rPr>
              <a:t>  ·  TF-IDF + NMF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4114800" cy="27432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B97AA"/>
                </a:solidFill>
              </a:rPr>
              <a:t>Data Science &amp; AI  ·  Evolve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Objetivos y Metodología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4864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Objetivos del análisis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E3B"/>
                </a:solidFill>
              </a:rPr>
              <a:t>1. ¿Son las reseñas de dice.fm positivas o negativas?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E3B"/>
                </a:solidFill>
              </a:rPr>
              <a:t>2. ¿Y en la competencia del sector?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E3B"/>
                </a:solidFill>
              </a:rPr>
              <a:t>3. ¿Qué temas tratan las reseñas?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E3B"/>
                </a:solidFill>
              </a:rPr>
              <a:t>4. Sentimiento por tema vs competencia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E3B"/>
                </a:solidFill>
              </a:rPr>
              <a:t>5. Identificar áreas de mejora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572000" y="868680"/>
            <a:ext cx="54864" cy="3931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Metodología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389888"/>
            <a:ext cx="1188720" cy="292608"/>
          </a:xfrm>
          <a:prstGeom prst="rect">
            <a:avLst/>
          </a:prstGeom>
          <a:solidFill>
            <a:srgbClr val="0077B6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138988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</a:rPr>
              <a:t>123k reseñas · 22 sectores · 558 empresas con 100 reseñas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865376"/>
            <a:ext cx="1188720" cy="292608"/>
          </a:xfrm>
          <a:prstGeom prst="rect">
            <a:avLst/>
          </a:prstGeom>
          <a:solidFill>
            <a:srgbClr val="0077B6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Empresa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186537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</a:rPr>
              <a:t>dice.fm — Events &amp; Entertainment (100 reseñas)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340864"/>
            <a:ext cx="1188720" cy="292608"/>
          </a:xfrm>
          <a:prstGeom prst="rect">
            <a:avLst/>
          </a:prstGeom>
          <a:solidFill>
            <a:srgbClr val="0077B6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Limpieza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3408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</a:rPr>
              <a:t>Normalización Unicode, URLs, HTML, puntuación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816352"/>
            <a:ext cx="1188720" cy="292608"/>
          </a:xfrm>
          <a:prstGeom prst="rect">
            <a:avLst/>
          </a:prstGeom>
          <a:solidFill>
            <a:srgbClr val="0077B6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Sentimiento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81635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</a:rPr>
              <a:t>DistilBERT multilingüe — 27 idiomas (EN, IT, FR…)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291840"/>
            <a:ext cx="1188720" cy="292608"/>
          </a:xfrm>
          <a:prstGeom prst="rect">
            <a:avLst/>
          </a:prstGeom>
          <a:solidFill>
            <a:srgbClr val="0077B6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Topics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32918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</a:rPr>
              <a:t>TF-IDF + NMF (6 temas) entrenado sobre el sector</a:t>
            </a:r>
            <a:endParaRPr lang="en-US" sz="10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3CD0EA5-A3D0-77FC-8326-4BB501FD2D1F}"/>
              </a:ext>
            </a:extLst>
          </p:cNvPr>
          <p:cNvSpPr/>
          <p:nvPr/>
        </p:nvSpPr>
        <p:spPr>
          <a:xfrm>
            <a:off x="4754880" y="3767328"/>
            <a:ext cx="1188720" cy="292608"/>
          </a:xfrm>
          <a:prstGeom prst="rect">
            <a:avLst/>
          </a:prstGeom>
          <a:solidFill>
            <a:srgbClr val="0077B6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</a:rPr>
              <a:t>Conclusiones</a:t>
            </a:r>
            <a:endParaRPr lang="en-US" sz="10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8C1B1DA1-3886-693C-F3B9-29762B2FDAAA}"/>
              </a:ext>
            </a:extLst>
          </p:cNvPr>
          <p:cNvSpPr/>
          <p:nvPr/>
        </p:nvSpPr>
        <p:spPr>
          <a:xfrm>
            <a:off x="6035040" y="37536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err="1">
                <a:solidFill>
                  <a:srgbClr val="1A2E3B"/>
                </a:solidFill>
              </a:rPr>
              <a:t>Información</a:t>
            </a:r>
            <a:r>
              <a:rPr lang="en-US" sz="1000" dirty="0">
                <a:solidFill>
                  <a:srgbClr val="1A2E3B"/>
                </a:solidFill>
              </a:rPr>
              <a:t> </a:t>
            </a:r>
            <a:r>
              <a:rPr lang="en-US" sz="1000" dirty="0" err="1">
                <a:solidFill>
                  <a:srgbClr val="1A2E3B"/>
                </a:solidFill>
              </a:rPr>
              <a:t>que</a:t>
            </a:r>
            <a:r>
              <a:rPr lang="en-US" sz="1000" dirty="0">
                <a:solidFill>
                  <a:srgbClr val="1A2E3B"/>
                </a:solidFill>
              </a:rPr>
              <a:t> </a:t>
            </a:r>
            <a:r>
              <a:rPr lang="en-US" sz="1000" dirty="0" err="1">
                <a:solidFill>
                  <a:srgbClr val="1A2E3B"/>
                </a:solidFill>
              </a:rPr>
              <a:t>hemos</a:t>
            </a:r>
            <a:r>
              <a:rPr lang="en-US" sz="1000" dirty="0">
                <a:solidFill>
                  <a:srgbClr val="1A2E3B"/>
                </a:solidFill>
              </a:rPr>
              <a:t> </a:t>
            </a:r>
            <a:r>
              <a:rPr lang="en-US" sz="1000" dirty="0" err="1">
                <a:solidFill>
                  <a:srgbClr val="1A2E3B"/>
                </a:solidFill>
              </a:rPr>
              <a:t>podido</a:t>
            </a:r>
            <a:r>
              <a:rPr lang="en-US" sz="1000" dirty="0">
                <a:solidFill>
                  <a:srgbClr val="1A2E3B"/>
                </a:solidFill>
              </a:rPr>
              <a:t> </a:t>
            </a:r>
            <a:r>
              <a:rPr lang="en-US" sz="1000" dirty="0" err="1">
                <a:solidFill>
                  <a:srgbClr val="1A2E3B"/>
                </a:solidFill>
              </a:rPr>
              <a:t>sacar</a:t>
            </a:r>
            <a:r>
              <a:rPr lang="en-US" sz="1000" dirty="0">
                <a:solidFill>
                  <a:srgbClr val="1A2E3B"/>
                </a:solidFill>
              </a:rPr>
              <a:t> del </a:t>
            </a:r>
            <a:r>
              <a:rPr lang="en-US" sz="1000" dirty="0" err="1">
                <a:solidFill>
                  <a:srgbClr val="1A2E3B"/>
                </a:solidFill>
              </a:rPr>
              <a:t>análisis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Análisis</a:t>
            </a:r>
            <a:r>
              <a:rPr lang="en-US" sz="2000" b="1" dirty="0">
                <a:solidFill>
                  <a:srgbClr val="FFFFFF"/>
                </a:solidFill>
              </a:rPr>
              <a:t> de </a:t>
            </a:r>
            <a:r>
              <a:rPr lang="en-US" sz="2000" b="1" dirty="0" err="1">
                <a:solidFill>
                  <a:srgbClr val="FFFFFF"/>
                </a:solidFill>
              </a:rPr>
              <a:t>Sentimiento</a:t>
            </a:r>
            <a:r>
              <a:rPr lang="en-US" sz="2000" b="1" dirty="0">
                <a:solidFill>
                  <a:srgbClr val="FFFFFF"/>
                </a:solidFill>
              </a:rPr>
              <a:t> Global – </a:t>
            </a:r>
            <a:r>
              <a:rPr lang="en-US" sz="2000" b="1" dirty="0" err="1">
                <a:solidFill>
                  <a:srgbClr val="FFFFFF"/>
                </a:solidFill>
              </a:rPr>
              <a:t>DistilBERT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 err="1">
                <a:solidFill>
                  <a:srgbClr val="FFFFFF"/>
                </a:solidFill>
              </a:rPr>
              <a:t>multilingüe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43.0%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97AA"/>
                </a:solidFill>
              </a:rPr>
              <a:t>dice.fm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97AA"/>
                </a:solidFill>
              </a:rPr>
              <a:t>Positivas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41448" y="8229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441448" y="822960"/>
            <a:ext cx="201168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441448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7B6"/>
                </a:solidFill>
              </a:rPr>
              <a:t>46.8%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41448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97AA"/>
                </a:solidFill>
              </a:rPr>
              <a:t>Sector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97AA"/>
                </a:solidFill>
              </a:rPr>
              <a:t>Positivas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08576" y="8229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608576" y="822960"/>
            <a:ext cx="201168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608576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74C3C"/>
                </a:solidFill>
              </a:rPr>
              <a:t>38.0%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08576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97AA"/>
                </a:solidFill>
              </a:rPr>
              <a:t>dice.fm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97AA"/>
                </a:solidFill>
              </a:rPr>
              <a:t>Negativas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75704" y="8229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775704" y="822960"/>
            <a:ext cx="201168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775704" y="960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9C12"/>
                </a:solidFill>
              </a:rPr>
              <a:t>~Media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75704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97AA"/>
                </a:solidFill>
              </a:rPr>
              <a:t>Posición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97AA"/>
                </a:solidFill>
              </a:rPr>
              <a:t>Sector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220825"/>
            <a:ext cx="8595360" cy="430935"/>
          </a:xfrm>
          <a:prstGeom prst="rect">
            <a:avLst/>
          </a:prstGeom>
          <a:solidFill>
            <a:srgbClr val="EBF5F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57200" y="2248257"/>
            <a:ext cx="8229600" cy="3852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77B6"/>
                </a:solidFill>
              </a:rPr>
              <a:t>dice.fm está ligeramente por debajo de la media del sector (−3.8%), pero la diferencia global oculta disparidades significativas entre </a:t>
            </a:r>
            <a:r>
              <a:rPr lang="en-US" sz="1100" i="1" dirty="0" err="1">
                <a:solidFill>
                  <a:srgbClr val="0077B6"/>
                </a:solidFill>
              </a:rPr>
              <a:t>temas</a:t>
            </a:r>
            <a:r>
              <a:rPr lang="en-US" sz="1100" i="1" dirty="0">
                <a:solidFill>
                  <a:srgbClr val="0077B6"/>
                </a:solidFill>
              </a:rPr>
              <a:t>, </a:t>
            </a:r>
            <a:r>
              <a:rPr lang="en-US" sz="1100" i="1" dirty="0" err="1">
                <a:solidFill>
                  <a:srgbClr val="0077B6"/>
                </a:solidFill>
              </a:rPr>
              <a:t>está</a:t>
            </a:r>
            <a:r>
              <a:rPr lang="en-US" sz="1100" i="1" dirty="0">
                <a:solidFill>
                  <a:srgbClr val="0077B6"/>
                </a:solidFill>
              </a:rPr>
              <a:t> </a:t>
            </a:r>
            <a:r>
              <a:rPr lang="en-US" sz="1100" i="1" dirty="0" err="1">
                <a:solidFill>
                  <a:srgbClr val="0077B6"/>
                </a:solidFill>
              </a:rPr>
              <a:t>en</a:t>
            </a:r>
            <a:r>
              <a:rPr lang="en-US" sz="1100" i="1" dirty="0">
                <a:solidFill>
                  <a:srgbClr val="0077B6"/>
                </a:solidFill>
              </a:rPr>
              <a:t> </a:t>
            </a:r>
            <a:r>
              <a:rPr lang="en-US" sz="1100" i="1" dirty="0" err="1">
                <a:solidFill>
                  <a:srgbClr val="0077B6"/>
                </a:solidFill>
              </a:rPr>
              <a:t>el</a:t>
            </a:r>
            <a:r>
              <a:rPr lang="en-US" sz="1100" i="1" dirty="0">
                <a:solidFill>
                  <a:srgbClr val="0077B6"/>
                </a:solidFill>
              </a:rPr>
              <a:t> </a:t>
            </a:r>
            <a:r>
              <a:rPr lang="en-US" sz="1100" i="1" dirty="0" err="1">
                <a:solidFill>
                  <a:srgbClr val="0077B6"/>
                </a:solidFill>
              </a:rPr>
              <a:t>puesto</a:t>
            </a:r>
            <a:r>
              <a:rPr lang="en-US" sz="1100" i="1" dirty="0">
                <a:solidFill>
                  <a:srgbClr val="0077B6"/>
                </a:solidFill>
              </a:rPr>
              <a:t> 40 de 68 </a:t>
            </a:r>
            <a:r>
              <a:rPr lang="en-US" sz="1100" i="1" dirty="0" err="1">
                <a:solidFill>
                  <a:srgbClr val="0077B6"/>
                </a:solidFill>
              </a:rPr>
              <a:t>empresas</a:t>
            </a:r>
            <a:r>
              <a:rPr lang="en-US" sz="1100" i="1" dirty="0">
                <a:solidFill>
                  <a:srgbClr val="0077B6"/>
                </a:solidFill>
              </a:rPr>
              <a:t> con mas de 25 </a:t>
            </a:r>
            <a:r>
              <a:rPr lang="en-US" sz="1100" i="1" dirty="0" err="1">
                <a:solidFill>
                  <a:srgbClr val="0077B6"/>
                </a:solidFill>
              </a:rPr>
              <a:t>reseñas</a:t>
            </a:r>
            <a:r>
              <a:rPr lang="en-US" sz="1100" i="1" dirty="0">
                <a:solidFill>
                  <a:srgbClr val="0077B6"/>
                </a:solidFill>
              </a:rPr>
              <a:t> </a:t>
            </a:r>
            <a:r>
              <a:rPr lang="en-US" sz="1100" i="1" dirty="0" err="1">
                <a:solidFill>
                  <a:srgbClr val="0077B6"/>
                </a:solidFill>
              </a:rPr>
              <a:t>dentro</a:t>
            </a:r>
            <a:r>
              <a:rPr lang="en-US" sz="1100" i="1" dirty="0">
                <a:solidFill>
                  <a:srgbClr val="0077B6"/>
                </a:solidFill>
              </a:rPr>
              <a:t> de </a:t>
            </a:r>
            <a:r>
              <a:rPr lang="en-US" sz="1100" i="1" dirty="0" err="1">
                <a:solidFill>
                  <a:srgbClr val="0077B6"/>
                </a:solidFill>
              </a:rPr>
              <a:t>su</a:t>
            </a:r>
            <a:r>
              <a:rPr lang="en-US" sz="1100" i="1" dirty="0">
                <a:solidFill>
                  <a:srgbClr val="0077B6"/>
                </a:solidFill>
              </a:rPr>
              <a:t> sector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9AB86AB4-AEE9-5317-6E72-51DEDFA94B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87" t="5958"/>
          <a:stretch>
            <a:fillRect/>
          </a:stretch>
        </p:blipFill>
        <p:spPr>
          <a:xfrm>
            <a:off x="672143" y="2752570"/>
            <a:ext cx="2775145" cy="2237039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011721A8-C5F4-1028-0549-FE01AB12DD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97"/>
          <a:stretch>
            <a:fillRect/>
          </a:stretch>
        </p:blipFill>
        <p:spPr>
          <a:xfrm>
            <a:off x="5232683" y="2752569"/>
            <a:ext cx="2775145" cy="2237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Topic Modeling ( TF-IDF + NMF)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97AA"/>
                </a:solidFill>
              </a:rPr>
              <a:t>TF-IDF + NMF · 6 temas identificados sobre el sector completo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560320" y="1170432"/>
            <a:ext cx="38404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560320" y="11704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1887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Reembolsos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y pagos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55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Sentimiento: 8%  </a:t>
            </a:r>
            <a:r>
              <a:rPr lang="en-US" sz="1000" b="1" dirty="0" err="1">
                <a:solidFill>
                  <a:srgbClr val="E74C3C"/>
                </a:solidFill>
              </a:rPr>
              <a:t>positivo</a:t>
            </a:r>
            <a:r>
              <a:rPr lang="en-US" sz="1000" b="1" dirty="0">
                <a:solidFill>
                  <a:srgbClr val="E74C3C"/>
                </a:solidFill>
              </a:rPr>
              <a:t> / 80% </a:t>
            </a:r>
            <a:r>
              <a:rPr lang="en-US" sz="1000" b="1" dirty="0" err="1">
                <a:solidFill>
                  <a:srgbClr val="E74C3C"/>
                </a:solidFill>
              </a:rPr>
              <a:t>negativo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97AA"/>
                </a:solidFill>
              </a:rPr>
              <a:t>refund · email · ticket · money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7432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486400" y="1170432"/>
            <a:ext cx="38404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0" y="11704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22%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11887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E3B"/>
                </a:solidFill>
              </a:rPr>
              <a:t>Experiencia</a:t>
            </a:r>
            <a:r>
              <a:rPr lang="en-US" sz="1200" b="1" dirty="0">
                <a:solidFill>
                  <a:srgbClr val="1A2E3B"/>
                </a:solidFill>
              </a:rPr>
              <a:t> y </a:t>
            </a:r>
            <a:r>
              <a:rPr lang="en-US" sz="1200" b="1" dirty="0" err="1">
                <a:solidFill>
                  <a:srgbClr val="1A2E3B"/>
                </a:solidFill>
              </a:rPr>
              <a:t>ambiente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1755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</a:rPr>
              <a:t>Sentimiento: 50% </a:t>
            </a:r>
            <a:r>
              <a:rPr lang="en-US" sz="1000" b="1" dirty="0" err="1">
                <a:solidFill>
                  <a:srgbClr val="F39C12"/>
                </a:solidFill>
              </a:rPr>
              <a:t>positivo</a:t>
            </a:r>
            <a:r>
              <a:rPr lang="en-US" sz="1000" b="1" dirty="0">
                <a:solidFill>
                  <a:srgbClr val="F39C12"/>
                </a:solidFill>
              </a:rPr>
              <a:t> / 50% </a:t>
            </a:r>
            <a:r>
              <a:rPr lang="en-US" sz="1000" b="1" dirty="0" err="1">
                <a:solidFill>
                  <a:srgbClr val="F39C12"/>
                </a:solidFill>
              </a:rPr>
              <a:t>negativo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97AA"/>
                </a:solidFill>
              </a:rPr>
              <a:t>great · good · time · really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7B97AA"/>
          </a:solidFill>
          <a:ln w="12700">
            <a:solidFill>
              <a:srgbClr val="7B97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8412480" y="1170432"/>
            <a:ext cx="38404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8412480" y="11704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36208" y="11887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Fechas 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experiencias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175564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7AA"/>
                </a:solidFill>
              </a:rPr>
              <a:t>Sentimiento: 100% </a:t>
            </a:r>
            <a:r>
              <a:rPr lang="en-US" sz="1000" b="1" dirty="0" err="1">
                <a:solidFill>
                  <a:srgbClr val="7B97AA"/>
                </a:solidFill>
              </a:rPr>
              <a:t>positivo</a:t>
            </a:r>
            <a:r>
              <a:rPr lang="en-US" sz="1000" b="1" dirty="0">
                <a:solidFill>
                  <a:srgbClr val="7B97AA"/>
                </a:solidFill>
              </a:rPr>
              <a:t> (no </a:t>
            </a:r>
            <a:r>
              <a:rPr lang="en-US" sz="1000" b="1" dirty="0" err="1">
                <a:solidFill>
                  <a:srgbClr val="7B97AA"/>
                </a:solidFill>
              </a:rPr>
              <a:t>representativo</a:t>
            </a:r>
            <a:r>
              <a:rPr lang="en-US" sz="1000" b="1" dirty="0">
                <a:solidFill>
                  <a:srgbClr val="7B97AA"/>
                </a:solidFill>
              </a:rPr>
              <a:t>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6208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97AA"/>
                </a:solidFill>
              </a:rPr>
              <a:t>experience · date 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2560320" y="2999232"/>
            <a:ext cx="38404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2560320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" y="30175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Servicio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al cliente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" y="358444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Sentimiento: 14,3% </a:t>
            </a:r>
            <a:r>
              <a:rPr lang="en-US" sz="1000" b="1" dirty="0" err="1">
                <a:solidFill>
                  <a:srgbClr val="E74C3C"/>
                </a:solidFill>
              </a:rPr>
              <a:t>positivo</a:t>
            </a:r>
            <a:r>
              <a:rPr lang="en-US" sz="1000" b="1" dirty="0">
                <a:solidFill>
                  <a:srgbClr val="E74C3C"/>
                </a:solidFill>
              </a:rPr>
              <a:t> / 85,7% </a:t>
            </a:r>
            <a:r>
              <a:rPr lang="en-US" sz="1000" b="1" dirty="0" err="1">
                <a:solidFill>
                  <a:srgbClr val="E74C3C"/>
                </a:solidFill>
              </a:rPr>
              <a:t>negativo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" y="3886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97AA"/>
                </a:solidFill>
              </a:rPr>
              <a:t>customer · service · excellent · issue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5486400" y="2999232"/>
            <a:ext cx="38404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486400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18%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10128" y="30175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Proceso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de compra online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10128" y="3584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</a:rPr>
              <a:t>Sentimiento: 89% </a:t>
            </a:r>
            <a:r>
              <a:rPr lang="en-US" sz="1000" b="1" dirty="0" err="1">
                <a:solidFill>
                  <a:srgbClr val="2ECC71"/>
                </a:solidFill>
              </a:rPr>
              <a:t>positivo</a:t>
            </a:r>
            <a:r>
              <a:rPr lang="en-US" sz="1000" b="1" dirty="0">
                <a:solidFill>
                  <a:srgbClr val="2ECC71"/>
                </a:solidFill>
              </a:rPr>
              <a:t> / 11% </a:t>
            </a:r>
            <a:r>
              <a:rPr lang="en-US" sz="1000" b="1" dirty="0" err="1">
                <a:solidFill>
                  <a:srgbClr val="2ECC71"/>
                </a:solidFill>
              </a:rPr>
              <a:t>negativo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10128" y="3886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97AA"/>
                </a:solidFill>
              </a:rPr>
              <a:t>website · easy · quick · use · site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6126480" y="2926080"/>
            <a:ext cx="27432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8412480" y="2999232"/>
            <a:ext cx="38404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8412480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26%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36208" y="30175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Compra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</a:rPr>
              <a:t>de entradas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36208" y="358444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</a:rPr>
              <a:t>Sentimiento: 44,4% </a:t>
            </a:r>
            <a:r>
              <a:rPr lang="en-US" sz="1000" b="1" dirty="0" err="1">
                <a:solidFill>
                  <a:srgbClr val="F39C12"/>
                </a:solidFill>
              </a:rPr>
              <a:t>positivo</a:t>
            </a:r>
            <a:r>
              <a:rPr lang="en-US" sz="1000" b="1" dirty="0">
                <a:solidFill>
                  <a:srgbClr val="F39C12"/>
                </a:solidFill>
              </a:rPr>
              <a:t> / 55,6% </a:t>
            </a:r>
            <a:r>
              <a:rPr lang="en-US" sz="1000" b="1" dirty="0" err="1">
                <a:solidFill>
                  <a:srgbClr val="F39C12"/>
                </a:solidFill>
              </a:rPr>
              <a:t>negativo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36208" y="3886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97AA"/>
                </a:solidFill>
              </a:rPr>
              <a:t>tickets · buy · seats · event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Sentimiento por Tema — dice.fm vs Sector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772400" y="32369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-11%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772400" y="38953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-37%</a:t>
            </a:r>
            <a:endParaRPr lang="en-US" sz="1200" dirty="0"/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A26F877C-9D14-17A7-1FCE-788FEE6C8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1"/>
            <a:ext cx="6277583" cy="2214554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A0108272-F945-2D40-31E3-3E050EF2D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429" y="2967859"/>
            <a:ext cx="6597964" cy="21756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u="sng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Conclusiones y Próximos Pasos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0100"/>
            <a:ext cx="4023360" cy="2057400"/>
          </a:xfrm>
          <a:prstGeom prst="rect">
            <a:avLst/>
          </a:prstGeom>
          <a:solidFill>
            <a:srgbClr val="0D2233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0233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8778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✅  FORTALEZAS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Proceso de compra online (24% gap vs sector)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App valorada como fluida y fácil de usar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Disponibilidad de entradas supera al sector (11% gap vs sector)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297680" cy="2057400"/>
          </a:xfrm>
          <a:prstGeom prst="rect">
            <a:avLst/>
          </a:prstGeom>
          <a:solidFill>
            <a:srgbClr val="0D2233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429768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09160" y="87782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❌  ÁREAS DE MEJORA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261872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Reembolsos y pagos — solo 8% pos. (-11% gap vs sector)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Servicio al cliente — mayor gap (−37% vs sector)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</a:rPr>
              <a:t>Experiencia</a:t>
            </a:r>
            <a:r>
              <a:rPr lang="en-US" sz="1100" dirty="0">
                <a:solidFill>
                  <a:srgbClr val="FFFFFF"/>
                </a:solidFill>
              </a:rPr>
              <a:t> y </a:t>
            </a:r>
            <a:r>
              <a:rPr lang="en-US" sz="1100" dirty="0" err="1">
                <a:solidFill>
                  <a:srgbClr val="FFFFFF"/>
                </a:solidFill>
              </a:rPr>
              <a:t>ambiente</a:t>
            </a:r>
            <a:r>
              <a:rPr lang="en-US" sz="1100" dirty="0">
                <a:solidFill>
                  <a:srgbClr val="FFFFFF"/>
                </a:solidFill>
              </a:rPr>
              <a:t> (−15% vs sector)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8595360" cy="1005840"/>
          </a:xfrm>
          <a:prstGeom prst="rect">
            <a:avLst/>
          </a:prstGeom>
          <a:solidFill>
            <a:srgbClr val="0D2233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Conclusión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dice.fm destaca en la experiencia de compra — su app y proceso de reserva están por encima del sector — pero pierde la confianza del usuario en el postventa. </a:t>
            </a:r>
            <a:r>
              <a:rPr lang="en-US" sz="1100" b="1" i="1" dirty="0">
                <a:solidFill>
                  <a:srgbClr val="FFFFFF"/>
                </a:solidFill>
              </a:rPr>
              <a:t>Mejorar los tiempos de respuesta del soporte </a:t>
            </a:r>
            <a:r>
              <a:rPr lang="en-US" sz="1100" i="1" dirty="0">
                <a:solidFill>
                  <a:srgbClr val="FFFFFF"/>
                </a:solidFill>
              </a:rPr>
              <a:t>y revisar la </a:t>
            </a:r>
            <a:r>
              <a:rPr lang="en-US" sz="1100" b="1" i="1" dirty="0">
                <a:solidFill>
                  <a:srgbClr val="FFFFFF"/>
                </a:solidFill>
              </a:rPr>
              <a:t>política de reembolsos </a:t>
            </a:r>
            <a:r>
              <a:rPr lang="en-US" sz="1100" i="1" dirty="0">
                <a:solidFill>
                  <a:srgbClr val="FFFFFF"/>
                </a:solidFill>
              </a:rPr>
              <a:t>son las acciones con mayor impacto potencial sobre la satisfacción global.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160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97AA"/>
                </a:solidFill>
              </a:rPr>
              <a:t>Próximos pasos: Análisis de estrellas correlacionado con sentimiento  ·  Detección de idioma por reseña  ·  Seguimiento mensual de KPIs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540</Words>
  <Application>Microsoft Office PowerPoint</Application>
  <PresentationFormat>Presentación en pantalla (16:9)</PresentationFormat>
  <Paragraphs>92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Reseñas Trustpilot — dice.fm</dc:title>
  <dc:subject>PptxGenJS Presentation</dc:subject>
  <dc:creator>Víctor</dc:creator>
  <cp:lastModifiedBy>VICTOR HORCAS PUERTAS</cp:lastModifiedBy>
  <cp:revision>4</cp:revision>
  <dcterms:created xsi:type="dcterms:W3CDTF">2026-04-15T08:42:51Z</dcterms:created>
  <dcterms:modified xsi:type="dcterms:W3CDTF">2026-04-15T18:28:55Z</dcterms:modified>
</cp:coreProperties>
</file>